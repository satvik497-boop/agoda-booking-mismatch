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Arial"/>
              </a:rPr>
              <a:t>Sub-Score Breakdown: Agoda vs Booking.com (Location &amp; Room Comfort show largest gaps)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Agoda</c:v>
                </c:pt>
              </c:strCache>
            </c:strRef>
          </c:tx>
          <c:spPr>
            <a:solidFill>
              <a:srgbClr val="E863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A556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Location</c:v>
                  </c:pt>
                  <c:pt idx="1">
                    <c:v>Room Comfort</c:v>
                  </c:pt>
                  <c:pt idx="2">
                    <c:v>Value</c:v>
                  </c:pt>
                  <c:pt idx="3">
                    <c:v>Cleanliness</c:v>
                  </c:pt>
                  <c:pt idx="4">
                    <c:v>Facilities</c:v>
                  </c:pt>
                  <c:pt idx="5">
                    <c:v>Staff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9.14</c:v>
                </c:pt>
                <c:pt idx="1">
                  <c:v>9.26</c:v>
                </c:pt>
                <c:pt idx="2">
                  <c:v>8.43</c:v>
                </c:pt>
                <c:pt idx="3">
                  <c:v>9.49</c:v>
                </c:pt>
                <c:pt idx="4">
                  <c:v>9.25</c:v>
                </c:pt>
                <c:pt idx="5">
                  <c:v>9.25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Booking.com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A556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Location</c:v>
                  </c:pt>
                  <c:pt idx="1">
                    <c:v>Room Comfort</c:v>
                  </c:pt>
                  <c:pt idx="2">
                    <c:v>Value</c:v>
                  </c:pt>
                  <c:pt idx="3">
                    <c:v>Cleanliness</c:v>
                  </c:pt>
                  <c:pt idx="4">
                    <c:v>Facilities</c:v>
                  </c:pt>
                  <c:pt idx="5">
                    <c:v>Staff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9.51</c:v>
                </c:pt>
                <c:pt idx="1">
                  <c:v>9.67</c:v>
                </c:pt>
                <c:pt idx="2">
                  <c:v>8.61</c:v>
                </c:pt>
                <c:pt idx="3">
                  <c:v>9.63</c:v>
                </c:pt>
                <c:pt idx="4">
                  <c:v>9.48</c:v>
                </c:pt>
                <c:pt idx="5">
                  <c:v>9.58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A5568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7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Deficit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365760" y="21488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Agoda's Merchant Model is Quietly Eroding Its Supply-Side Moat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2971800"/>
            <a:ext cx="2286000" cy="36576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154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A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Domains: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 ·  Business Analysis  ·  Product Management  ·  Strategy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A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Markets: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Bali  ·  Singapore  ·  Tokyo        Data: Apify (Agoda + Booking.com scraped reviews)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663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Satvik Mishra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 REAL — AND STATISTICALLY SIGNIFICANT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274320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41248"/>
            <a:ext cx="2743200" cy="6400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058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8.93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Agoda Mean Score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3 luxury properties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0" y="841248"/>
            <a:ext cx="274320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841248"/>
            <a:ext cx="2743200" cy="64008"/>
          </a:xfrm>
          <a:prstGeom prst="rect">
            <a:avLst/>
          </a:prstGeom>
          <a:solidFill>
            <a:srgbClr val="1A7F4E"/>
          </a:solidFill>
          <a:ln w="12700">
            <a:solidFill>
              <a:srgbClr val="1A7F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0058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A7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9.33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3291840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 Mean Score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91840" y="2194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hotels, same period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26480" y="841248"/>
            <a:ext cx="274320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841248"/>
            <a:ext cx="27432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10058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−0.37</a:t>
            </a:r>
            <a:endParaRPr lang="en-US" sz="5200" dirty="0"/>
          </a:p>
        </p:txBody>
      </p:sp>
      <p:sp>
        <p:nvSpPr>
          <p:cNvPr id="17" name="Text 15"/>
          <p:cNvSpPr/>
          <p:nvPr/>
        </p:nvSpPr>
        <p:spPr>
          <a:xfrm>
            <a:off x="6217920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Gap (Agoda − Booking)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0" y="2194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.0001  ·  t = −11.04  ·  N = 10 hotels</a:t>
            </a:r>
            <a:endParaRPr lang="en-US" sz="95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274320" y="2743200"/>
          <a:ext cx="859536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SAMPLING BIAS: Tested and Supported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3931920" cy="411480"/>
          </a:xfrm>
          <a:prstGeom prst="rect">
            <a:avLst/>
          </a:prstGeom>
          <a:solidFill>
            <a:srgbClr val="FFF3CD"/>
          </a:solidFill>
          <a:ln w="12700">
            <a:solidFill>
              <a:srgbClr val="F6AD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804672"/>
            <a:ext cx="384048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Agoda &amp; Booking.com attract different types of travelers to the same hotel — explaining part of the score gap. Tested via regression on 1,850 reviews across 10 hotels; supported.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4114800" cy="2377440"/>
          </a:xfrm>
          <a:prstGeom prst="rect">
            <a:avLst/>
          </a:prstGeom>
          <a:solidFill>
            <a:srgbClr val="FFF8F5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298448"/>
            <a:ext cx="4114800" cy="54864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371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Agoda Reviewer Profile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81051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Asian reviewers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08960" y="181051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65.1%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24942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 travelers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108960" y="224942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50.8%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68833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travelers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08960" y="26883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12724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travelers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108960" y="31272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6.9%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1298448"/>
            <a:ext cx="4114800" cy="2377440"/>
          </a:xfrm>
          <a:prstGeom prst="rect">
            <a:avLst/>
          </a:prstGeom>
          <a:solidFill>
            <a:srgbClr val="F0FFF7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1298448"/>
            <a:ext cx="4114800" cy="54864"/>
          </a:xfrm>
          <a:prstGeom prst="rect">
            <a:avLst/>
          </a:prstGeom>
          <a:solidFill>
            <a:srgbClr val="1A7F4E"/>
          </a:solidFill>
          <a:ln w="12700">
            <a:solidFill>
              <a:srgbClr val="1A7F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1371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 Reviewer Profile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181051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Asian reviewers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589520" y="181051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7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16.9%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37760" y="224942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 travelers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589520" y="224942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48.9%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268833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travelers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589520" y="26883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12.0%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937760" y="312724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travelers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589520" y="31272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0.0%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251960" y="2240280"/>
            <a:ext cx="640080" cy="6400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5196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74320" y="3794760"/>
            <a:ext cx="8595360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3840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6A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Key Insight: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real nationality data now captured on both platforms (99.9%+ coverage): Agoda skews 65.1% Asian reviewers vs Booking.com's 16.9%. Controlling for hotel and platform (N=1,850 reviews), nationality significantly predicts score (p=0.027); platform itself has no separate effect (p=0.89). The gap is explained by who reviews where, not a platform-caused experience difference.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 &amp; STRATEGIC RESPONSE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80467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Risk Segmentation (3 of 10 hotels shown; full breakdown in PRD appendix)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4023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31520"/>
                <a:gridCol w="640080"/>
                <a:gridCol w="1005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Tier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Seasons Bali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At-Risk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Marina Bay Sands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At-Risk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 Hyatt Tokyo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Tokyo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63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At-Risk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395728"/>
            <a:ext cx="40233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11480" y="24871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at Risk (At-Risk Hotels)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11480" y="288036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bookings/month: 120  ·  Avg. value: $80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11480" y="30906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rate: 15%  ·  Allocation reduction: 20%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11480" y="330098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 at risk per hotel: $3,456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411480" y="35112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(7 At-Risk hotels): $24,192 / year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572000" y="804672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Position Map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0" y="1188720"/>
            <a:ext cx="2103120" cy="1280160"/>
          </a:xfrm>
          <a:prstGeom prst="rect">
            <a:avLst/>
          </a:prstGeom>
          <a:solidFill>
            <a:srgbClr val="FEF3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75120" y="1188720"/>
            <a:ext cx="2103120" cy="1280160"/>
          </a:xfrm>
          <a:prstGeom prst="rect">
            <a:avLst/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0" y="2468880"/>
            <a:ext cx="2103120" cy="1280160"/>
          </a:xfrm>
          <a:prstGeom prst="rect">
            <a:avLst/>
          </a:prstGeom>
          <a:solidFill>
            <a:srgbClr val="FFFBE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675120" y="2468880"/>
            <a:ext cx="2103120" cy="1280160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72000" y="95097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LOW CONTROL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675120" y="95097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CONTROL →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 rot="16200000">
            <a:off x="3840480" y="1188720"/>
            <a:ext cx="685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TRUST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 rot="16200000">
            <a:off x="3840480" y="2468880"/>
            <a:ext cx="685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TRUST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4846320" y="1417320"/>
            <a:ext cx="164592" cy="164592"/>
          </a:xfrm>
          <a:prstGeom prst="ellipse">
            <a:avLst/>
          </a:prstGeom>
          <a:solidFill>
            <a:srgbClr val="1A7F4E"/>
          </a:solidFill>
          <a:ln w="12700">
            <a:solidFill>
              <a:srgbClr val="1A7F4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47488" y="13716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7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A7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Middleman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858000" y="1691640"/>
            <a:ext cx="164592" cy="164592"/>
          </a:xfrm>
          <a:prstGeom prst="ellipse">
            <a:avLst/>
          </a:prstGeom>
          <a:solidFill>
            <a:srgbClr val="4A5568"/>
          </a:solidFill>
          <a:ln w="12700">
            <a:solidFill>
              <a:srgbClr val="4A556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59168" y="1645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Airbnb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Guarantor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6858000" y="2606040"/>
            <a:ext cx="164592" cy="164592"/>
          </a:xfrm>
          <a:prstGeom prst="ellipse">
            <a:avLst/>
          </a:prstGeom>
          <a:solidFill>
            <a:srgbClr val="718096"/>
          </a:solidFill>
          <a:ln w="12700">
            <a:solidFill>
              <a:srgbClr val="71809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059168" y="25603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Trip.com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Player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949440" y="3108960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150608" y="30632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Agoda TODAY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Merchant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498080" y="1325880"/>
            <a:ext cx="164592" cy="164592"/>
          </a:xfrm>
          <a:prstGeom prst="ellipse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699248" y="12801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Agoda TARGET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Power Buyer ✦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274320" y="3913632"/>
            <a:ext cx="859536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57200" y="395935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6A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Strategic Recommendation: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Agoda should pursue Trust as Moat — keep the merchant model for pricing power, but invest in trust infrastructure (contextual review routing, phantom inventory fixes, real-time CS). This is the only position defensible long-term that is consistent with Agoda's existing infrastructure and distinct from Booking.com's agency model.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INTERVENTION — Contextual Review Routing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69080" cy="1554480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406908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961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840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showed the aggregate score gap is best explained by reviewer composition (H1: Agoda skews 65% Asian reviewers vs Booking's 17%), not a confirmed platform-caused experience difference. That said, OTA-caused friction (booking confirmation issues, payment holds, check-in failures) still occurs and can get misattributed to hotels regardless of its share of the aggregate gap — travelers cannot distinguish 'the hotel was bad' from 'Agoda's system failed me.'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434840" y="804672"/>
            <a:ext cx="4434840" cy="1554480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434840" y="804672"/>
            <a:ext cx="4434840" cy="6400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896112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1261872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submitting a hotel rating, surface: "Was your experience affected by: ☐ Booking confirmation issue  ☐ Payment / refund problem  ☐ Check-in process (not hotel's fault)  ☐ None — this is about the hotel." Checked items route to an Agoda Service Score; the hotel's rating reflects only genuine hospitality.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560320"/>
            <a:ext cx="4069080" cy="1554480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560320"/>
            <a:ext cx="4069080" cy="64008"/>
          </a:xfrm>
          <a:prstGeom prst="rect">
            <a:avLst/>
          </a:prstGeom>
          <a:solidFill>
            <a:srgbClr val="1A7F4E"/>
          </a:solidFill>
          <a:ln w="12700">
            <a:solidFill>
              <a:srgbClr val="1A7F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6517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1480" y="3017520"/>
            <a:ext cx="3840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OTA-attributable complaints scored against hotels by 50% within 6 months. Note: since most of the aggregate gap is now attributed to reviewer composition (H1), this feature targets the residual operational-friction portion, not the full 0.37-point gap. Secondary: hotel re-allocation rate (At-Risk → Safe migration).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34840" y="2560320"/>
            <a:ext cx="4434840" cy="1554480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34840" y="2560320"/>
            <a:ext cx="4434840" cy="64008"/>
          </a:xfrm>
          <a:prstGeom prst="rect">
            <a:avLst/>
          </a:prstGeom>
          <a:solidFill>
            <a:srgbClr val="4A5568"/>
          </a:solidFill>
          <a:ln w="12700">
            <a:solidFill>
              <a:srgbClr val="4A55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265176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Trade-off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0" y="301752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Agoda now owns a visible Service Score that publicly exposes its own operational failures. This requires internal political will to ship — but is the only way to structurally fix supplier trust rather than masking it.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77316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Deficit  ·  Agoda Review Score Analysis  ·  Satvik Mishra  · 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2026-06-08T18:26:17Z</dcterms:created>
  <dcterms:modified xsi:type="dcterms:W3CDTF">2026-06-08T18:26:17Z</dcterms:modified>
</cp:coreProperties>
</file>