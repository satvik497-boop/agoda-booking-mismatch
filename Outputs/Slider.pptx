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charts/chart1.xml" ContentType="application/vnd.openxmlformats-officedocument.drawingml.chart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notesMasterIdLst>
    <p:notesMasterId r:id="rId7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notesMaster" Target="notesMasters/notesMaster1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0"/>
  <c:chart>
    <c:title>
      <c:tx>
        <c:rich>
          <a:bodyPr/>
          <a:lstStyle/>
          <a:p>
            <a:pPr>
              <a:defRPr sz="1100" b="0" i="0" u="none" strike="noStrike">
                <a:solidFill>
                  <a:srgbClr val="000000"/>
                </a:solidFill>
                <a:latin typeface="Arial"/>
              </a:defRPr>
            </a:pPr>
            <a:r>
              <a:rPr sz="1100" b="0" i="0" u="none" strike="noStrike">
                <a:solidFill>
                  <a:srgbClr val="000000"/>
                </a:solidFill>
                <a:latin typeface="Arial"/>
              </a:rPr>
              <a:t>Sub-Score Breakdown: Agoda vs Booking.com (Location &amp; Room Comfort show largest gaps)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Agoda</c:v>
                </c:pt>
              </c:strCache>
            </c:strRef>
          </c:tx>
          <c:spPr>
            <a:solidFill>
              <a:srgbClr val="E8630A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4A5568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Sheet1!$A$2:$A$7</c:f>
              <c:multiLvlStrCache>
                <c:ptCount val="6"/>
                <c:lvl>
                  <c:pt idx="0">
                    <c:v>Location</c:v>
                  </c:pt>
                  <c:pt idx="1">
                    <c:v>Room Comfort</c:v>
                  </c:pt>
                  <c:pt idx="2">
                    <c:v>Value</c:v>
                  </c:pt>
                  <c:pt idx="3">
                    <c:v>Cleanliness</c:v>
                  </c:pt>
                  <c:pt idx="4">
                    <c:v>Facilities</c:v>
                  </c:pt>
                  <c:pt idx="5">
                    <c:v>Staff</c:v>
                  </c:pt>
                </c:lvl>
              </c:multiLvlStrCache>
            </c:multiLvl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9.23</c:v>
                </c:pt>
                <c:pt idx="1">
                  <c:v>9.07</c:v>
                </c:pt>
                <c:pt idx="2">
                  <c:v>8.27</c:v>
                </c:pt>
                <c:pt idx="3">
                  <c:v>9.43</c:v>
                </c:pt>
                <c:pt idx="4">
                  <c:v>9.3</c:v>
                </c:pt>
                <c:pt idx="5">
                  <c:v>9.3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Booking.com</c:v>
                </c:pt>
              </c:strCache>
            </c:strRef>
          </c:tx>
          <c:spPr>
            <a:solidFill>
              <a:srgbClr val="1E2761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4A5568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Sheet1!$A$2:$A$7</c:f>
              <c:multiLvlStrCache>
                <c:ptCount val="6"/>
                <c:lvl>
                  <c:pt idx="0">
                    <c:v>Location</c:v>
                  </c:pt>
                  <c:pt idx="1">
                    <c:v>Room Comfort</c:v>
                  </c:pt>
                  <c:pt idx="2">
                    <c:v>Value</c:v>
                  </c:pt>
                  <c:pt idx="3">
                    <c:v>Cleanliness</c:v>
                  </c:pt>
                  <c:pt idx="4">
                    <c:v>Facilities</c:v>
                  </c:pt>
                  <c:pt idx="5">
                    <c:v>Staff</c:v>
                  </c:pt>
                </c:lvl>
              </c:multiLvlStrCache>
            </c:multiLvlStrRef>
          </c:cat>
          <c:val>
            <c:numRef>
              <c:f>Sheet1!$C$2:$C$7</c:f>
              <c:numCache>
                <c:formatCode>General</c:formatCode>
                <c:ptCount val="6"/>
                <c:pt idx="0">
                  <c:v>9.83</c:v>
                </c:pt>
                <c:pt idx="1">
                  <c:v>9.6</c:v>
                </c:pt>
                <c:pt idx="2">
                  <c:v>8.5</c:v>
                </c:pt>
                <c:pt idx="3">
                  <c:v>9.57</c:v>
                </c:pt>
                <c:pt idx="4">
                  <c:v>9.43</c:v>
                </c:pt>
                <c:pt idx="5">
                  <c:v>9.43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4A5568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4A5568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0"/>
          <c:min val="7.5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4A5568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r"/>
      <c:overlay val="0"/>
      <c:txPr>
        <a:bodyPr/>
        <a:lstStyle/>
        <a:p>
          <a:pPr>
            <a:defRPr sz="1000">      </a:defRPr>
          </a:pPr>
          <a:endParaRPr lang="en-US"/>
        </a:p>
      </c:txPr>
    </c:legend>
    <c:plotVisOnly val="1"/>
    <c:dispBlanksAs val="span"/>
  </c:chart>
  <c:spPr>
    <a:solidFill>
      <a:srgbClr val="F7F9FC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E8630A"/>
          </a:solidFill>
          <a:ln w="12700">
            <a:solidFill>
              <a:srgbClr val="E8630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097280"/>
            <a:ext cx="84124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Trust Deficit</a:t>
            </a:r>
            <a:endParaRPr lang="en-US" sz="4800" dirty="0"/>
          </a:p>
        </p:txBody>
      </p:sp>
      <p:sp>
        <p:nvSpPr>
          <p:cNvPr id="4" name="Text 2"/>
          <p:cNvSpPr/>
          <p:nvPr/>
        </p:nvSpPr>
        <p:spPr>
          <a:xfrm>
            <a:off x="365760" y="2148840"/>
            <a:ext cx="7315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Agoda's Merchant Model is Quietly Eroding Its Supply-Side Moat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365760" y="2971800"/>
            <a:ext cx="2286000" cy="36576"/>
          </a:xfrm>
          <a:prstGeom prst="rect">
            <a:avLst/>
          </a:prstGeom>
          <a:solidFill>
            <a:srgbClr val="E8630A"/>
          </a:solidFill>
          <a:ln w="12700">
            <a:solidFill>
              <a:srgbClr val="E8630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65760" y="315468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6AD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Domains: </a:t>
            </a:r>
            <a:pPr indent="0" marL="0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Analytics  ·  Business Analysis  ·  Product Management  ·  Strategy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365760" y="352044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6AD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Markets: </a:t>
            </a:r>
            <a:pPr indent="0" marL="0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Bali  ·  Singapore  ·  Tokyo        Data: Apify (Agoda + Booking.com scraped reviews)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365760" y="466344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Satvik Mishra  |  2026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GAP IS REAL — AND STATISTICALLY SIGNIFICANT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274320" y="841248"/>
            <a:ext cx="2743200" cy="182880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74320" y="841248"/>
            <a:ext cx="2743200" cy="64008"/>
          </a:xfrm>
          <a:prstGeom prst="rect">
            <a:avLst/>
          </a:prstGeom>
          <a:solidFill>
            <a:srgbClr val="E8630A"/>
          </a:solidFill>
          <a:ln w="12700">
            <a:solidFill>
              <a:srgbClr val="E8630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11480" y="1005840"/>
            <a:ext cx="24688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E863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8.93</a:t>
            </a:r>
            <a:endParaRPr lang="en-US" sz="5200" dirty="0"/>
          </a:p>
        </p:txBody>
      </p:sp>
      <p:sp>
        <p:nvSpPr>
          <p:cNvPr id="7" name="Text 5"/>
          <p:cNvSpPr/>
          <p:nvPr/>
        </p:nvSpPr>
        <p:spPr>
          <a:xfrm>
            <a:off x="365760" y="1874520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Agoda Mean Score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365760" y="2194560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across 3 luxury properties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3200400" y="841248"/>
            <a:ext cx="2743200" cy="182880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200400" y="841248"/>
            <a:ext cx="2743200" cy="64008"/>
          </a:xfrm>
          <a:prstGeom prst="rect">
            <a:avLst/>
          </a:prstGeom>
          <a:solidFill>
            <a:srgbClr val="1A7F4E"/>
          </a:solidFill>
          <a:ln w="12700">
            <a:solidFill>
              <a:srgbClr val="1A7F4E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337560" y="1005840"/>
            <a:ext cx="24688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1A7F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9.33</a:t>
            </a:r>
            <a:endParaRPr lang="en-US" sz="5200" dirty="0"/>
          </a:p>
        </p:txBody>
      </p:sp>
      <p:sp>
        <p:nvSpPr>
          <p:cNvPr id="12" name="Text 10"/>
          <p:cNvSpPr/>
          <p:nvPr/>
        </p:nvSpPr>
        <p:spPr>
          <a:xfrm>
            <a:off x="3291840" y="1874520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Booking.com Mean Score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3291840" y="2194560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hotels, same period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6126480" y="841248"/>
            <a:ext cx="2743200" cy="182880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6126480" y="841248"/>
            <a:ext cx="2743200" cy="64008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263640" y="1005840"/>
            <a:ext cx="24688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−0.40</a:t>
            </a:r>
            <a:endParaRPr lang="en-US" sz="5200" dirty="0"/>
          </a:p>
        </p:txBody>
      </p:sp>
      <p:sp>
        <p:nvSpPr>
          <p:cNvPr id="17" name="Text 15"/>
          <p:cNvSpPr/>
          <p:nvPr/>
        </p:nvSpPr>
        <p:spPr>
          <a:xfrm>
            <a:off x="6217920" y="1874520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Mean Gap (Agoda − Booking)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6217920" y="2194560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 = 0.020  ·  t = −6.93  (significant)</a:t>
            </a:r>
            <a:endParaRPr lang="en-US" sz="950" dirty="0"/>
          </a:p>
        </p:txBody>
      </p:sp>
      <p:graphicFrame>
        <p:nvGraphicFramePr>
          <p:cNvPr id="19" name="Chart 0" descr=""/>
          <p:cNvGraphicFramePr/>
          <p:nvPr/>
        </p:nvGraphicFramePr>
        <p:xfrm>
          <a:off x="274320" y="2743200"/>
          <a:ext cx="8595360" cy="22402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H1 — SAMPLING BIAS: The Smoking Gun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274320" y="804672"/>
            <a:ext cx="3931920" cy="411480"/>
          </a:xfrm>
          <a:prstGeom prst="rect">
            <a:avLst/>
          </a:prstGeom>
          <a:solidFill>
            <a:srgbClr val="FFF3CD"/>
          </a:solidFill>
          <a:ln w="12700">
            <a:solidFill>
              <a:srgbClr val="F6AD55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20040" y="804672"/>
            <a:ext cx="3840480" cy="41148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D4E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Hypothesis: Agoda &amp; Booking.com attract different types of travelers to the same hotel — explaining part of the score gap.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274320" y="1298448"/>
            <a:ext cx="4114800" cy="2377440"/>
          </a:xfrm>
          <a:prstGeom prst="rect">
            <a:avLst/>
          </a:prstGeom>
          <a:solidFill>
            <a:srgbClr val="FFF8F5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12700" dir="8100000">
              <a:srgbClr val="000000">
                <a:alpha val="8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274320" y="1298448"/>
            <a:ext cx="4114800" cy="54864"/>
          </a:xfrm>
          <a:prstGeom prst="rect">
            <a:avLst/>
          </a:prstGeom>
          <a:solidFill>
            <a:srgbClr val="E8630A"/>
          </a:solidFill>
          <a:ln w="12700">
            <a:solidFill>
              <a:srgbClr val="E8630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11480" y="1371600"/>
            <a:ext cx="3840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863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Agoda Reviewer Profile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1810512"/>
            <a:ext cx="2560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Asian reviewers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3108960" y="1810512"/>
            <a:ext cx="1097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60.4%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457200" y="2249424"/>
            <a:ext cx="2560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Couple travelers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3108960" y="2249424"/>
            <a:ext cx="1097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49.0%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457200" y="2688336"/>
            <a:ext cx="2560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Solo travelers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3108960" y="2688336"/>
            <a:ext cx="1097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12.3%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457200" y="3127248"/>
            <a:ext cx="2560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travelers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3108960" y="3127248"/>
            <a:ext cx="1097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7.3%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4754880" y="1298448"/>
            <a:ext cx="4114800" cy="2377440"/>
          </a:xfrm>
          <a:prstGeom prst="rect">
            <a:avLst/>
          </a:prstGeom>
          <a:solidFill>
            <a:srgbClr val="F0FFF7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12700" dir="8100000">
              <a:srgbClr val="000000">
                <a:alpha val="8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4754880" y="1298448"/>
            <a:ext cx="4114800" cy="54864"/>
          </a:xfrm>
          <a:prstGeom prst="rect">
            <a:avLst/>
          </a:prstGeom>
          <a:solidFill>
            <a:srgbClr val="1A7F4E"/>
          </a:solidFill>
          <a:ln w="12700">
            <a:solidFill>
              <a:srgbClr val="1A7F4E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892040" y="1371600"/>
            <a:ext cx="3840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7F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Booking.com Reviewer Profile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4937760" y="1810512"/>
            <a:ext cx="2560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Asian reviewers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7589520" y="1810512"/>
            <a:ext cx="1097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1A7F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0%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4937760" y="2249424"/>
            <a:ext cx="2560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Couple travelers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7589520" y="2249424"/>
            <a:ext cx="1097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38.8%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4937760" y="2688336"/>
            <a:ext cx="2560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Solo travelers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7589520" y="2688336"/>
            <a:ext cx="1097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11.8%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4937760" y="3127248"/>
            <a:ext cx="2560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travelers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7589520" y="3127248"/>
            <a:ext cx="1097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1.3%</a:t>
            </a:r>
            <a:endParaRPr lang="en-US" sz="1300" dirty="0"/>
          </a:p>
        </p:txBody>
      </p:sp>
      <p:sp>
        <p:nvSpPr>
          <p:cNvPr id="28" name="Shape 26"/>
          <p:cNvSpPr/>
          <p:nvPr/>
        </p:nvSpPr>
        <p:spPr>
          <a:xfrm>
            <a:off x="4251960" y="2240280"/>
            <a:ext cx="640080" cy="640080"/>
          </a:xfrm>
          <a:prstGeom prst="ellipse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251960" y="224028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VS</a:t>
            </a:r>
            <a:endParaRPr lang="en-US" sz="1300" dirty="0"/>
          </a:p>
        </p:txBody>
      </p:sp>
      <p:sp>
        <p:nvSpPr>
          <p:cNvPr id="30" name="Shape 28"/>
          <p:cNvSpPr/>
          <p:nvPr/>
        </p:nvSpPr>
        <p:spPr>
          <a:xfrm>
            <a:off x="274320" y="3794760"/>
            <a:ext cx="8595360" cy="109728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502920" y="3840480"/>
            <a:ext cx="8229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6AD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Insight: </a:t>
            </a:r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Agoda skews 60%+ Asian reviewers; Booking.com shows 0% in this sample. Asian travelers hold higher location and room comfort expectations relative to price — explaining why Location (−0.60) and Room Comfort (−0.53) drive the largest sub-score gaps. This is sampling bias, not hotel quality.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IMPACT &amp; STRATEGIC RESPONSE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274320" y="804672"/>
            <a:ext cx="4023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Supplier Risk Segmentation</a:t>
            </a:r>
            <a:endParaRPr lang="en-US" sz="13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74320" y="1188720"/>
          <a:ext cx="4023360" cy="914400"/>
        </p:xfrm>
        <a:graphic>
          <a:graphicData uri="http://schemas.openxmlformats.org/drawingml/2006/table">
            <a:tbl>
              <a:tblPr/>
              <a:tblGrid>
                <a:gridCol w="1645920"/>
                <a:gridCol w="731520"/>
                <a:gridCol w="640080"/>
                <a:gridCol w="100584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Hotel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City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Gap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Risk Tier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4A556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Four Seasons Bali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4A556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Bali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4A556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−0.50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C039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At-Risk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4A556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Marina Bay Sands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4A556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Singapore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4A556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−0.40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C039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At-Risk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4A556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Park Hyatt Tokyo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4A556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Tokyo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4A556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−0.30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E8630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Watch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274320" y="2395728"/>
            <a:ext cx="4023360" cy="137160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12700" dir="8100000">
              <a:srgbClr val="000000">
                <a:alpha val="8000"/>
              </a:srgbClr>
            </a:outerShdw>
          </a:effectLst>
        </p:spPr>
      </p:sp>
      <p:sp>
        <p:nvSpPr>
          <p:cNvPr id="7" name="Text 4"/>
          <p:cNvSpPr/>
          <p:nvPr/>
        </p:nvSpPr>
        <p:spPr>
          <a:xfrm>
            <a:off x="411480" y="2487168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 at Risk (At-Risk Hotels)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11480" y="2880360"/>
            <a:ext cx="3749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Avg. bookings/month: 120  ·  Avg. value: $80</a:t>
            </a:r>
            <a:endParaRPr lang="en-US" sz="950" dirty="0"/>
          </a:p>
        </p:txBody>
      </p:sp>
      <p:sp>
        <p:nvSpPr>
          <p:cNvPr id="9" name="Text 6"/>
          <p:cNvSpPr/>
          <p:nvPr/>
        </p:nvSpPr>
        <p:spPr>
          <a:xfrm>
            <a:off x="411480" y="3090672"/>
            <a:ext cx="3749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Commission rate: 15%  ·  Allocation reduction: 20%</a:t>
            </a:r>
            <a:endParaRPr lang="en-US" sz="950" dirty="0"/>
          </a:p>
        </p:txBody>
      </p:sp>
      <p:sp>
        <p:nvSpPr>
          <p:cNvPr id="10" name="Text 7"/>
          <p:cNvSpPr/>
          <p:nvPr/>
        </p:nvSpPr>
        <p:spPr>
          <a:xfrm>
            <a:off x="411480" y="3300984"/>
            <a:ext cx="3749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Annual revenue at risk per hotel: $3,456</a:t>
            </a:r>
            <a:endParaRPr lang="en-US" sz="950" dirty="0"/>
          </a:p>
        </p:txBody>
      </p:sp>
      <p:sp>
        <p:nvSpPr>
          <p:cNvPr id="11" name="Text 8"/>
          <p:cNvSpPr/>
          <p:nvPr/>
        </p:nvSpPr>
        <p:spPr>
          <a:xfrm>
            <a:off x="411480" y="3511296"/>
            <a:ext cx="3749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(2 At-Risk hotels): $6,912 / year</a:t>
            </a:r>
            <a:endParaRPr lang="en-US" sz="950" dirty="0"/>
          </a:p>
        </p:txBody>
      </p:sp>
      <p:sp>
        <p:nvSpPr>
          <p:cNvPr id="12" name="Text 9"/>
          <p:cNvSpPr/>
          <p:nvPr/>
        </p:nvSpPr>
        <p:spPr>
          <a:xfrm>
            <a:off x="4572000" y="804672"/>
            <a:ext cx="4297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Strategic Position Map</a:t>
            </a:r>
            <a:endParaRPr lang="en-US" sz="1300" dirty="0"/>
          </a:p>
        </p:txBody>
      </p:sp>
      <p:sp>
        <p:nvSpPr>
          <p:cNvPr id="13" name="Shape 10"/>
          <p:cNvSpPr/>
          <p:nvPr/>
        </p:nvSpPr>
        <p:spPr>
          <a:xfrm>
            <a:off x="4572000" y="1188720"/>
            <a:ext cx="2103120" cy="1280160"/>
          </a:xfrm>
          <a:prstGeom prst="rect">
            <a:avLst/>
          </a:prstGeom>
          <a:solidFill>
            <a:srgbClr val="FEF3F2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6675120" y="1188720"/>
            <a:ext cx="2103120" cy="1280160"/>
          </a:xfrm>
          <a:prstGeom prst="rect">
            <a:avLst/>
          </a:prstGeom>
          <a:solidFill>
            <a:srgbClr val="F0FDF4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4572000" y="2468880"/>
            <a:ext cx="2103120" cy="1280160"/>
          </a:xfrm>
          <a:prstGeom prst="rect">
            <a:avLst/>
          </a:prstGeom>
          <a:solidFill>
            <a:srgbClr val="FFFBEB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6675120" y="2468880"/>
            <a:ext cx="2103120" cy="1280160"/>
          </a:xfrm>
          <a:prstGeom prst="rect">
            <a:avLst/>
          </a:prstGeom>
          <a:solidFill>
            <a:srgbClr val="EFF6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4572000" y="950976"/>
            <a:ext cx="2103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← LOW CONTROL</a:t>
            </a:r>
            <a:endParaRPr lang="en-US" sz="700" dirty="0"/>
          </a:p>
        </p:txBody>
      </p:sp>
      <p:sp>
        <p:nvSpPr>
          <p:cNvPr id="18" name="Text 15"/>
          <p:cNvSpPr/>
          <p:nvPr/>
        </p:nvSpPr>
        <p:spPr>
          <a:xfrm>
            <a:off x="6675120" y="950976"/>
            <a:ext cx="2103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b="1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 CONTROL →</a:t>
            </a:r>
            <a:endParaRPr lang="en-US" sz="700" dirty="0"/>
          </a:p>
        </p:txBody>
      </p:sp>
      <p:sp>
        <p:nvSpPr>
          <p:cNvPr id="19" name="Text 16"/>
          <p:cNvSpPr/>
          <p:nvPr/>
        </p:nvSpPr>
        <p:spPr>
          <a:xfrm rot="16200000">
            <a:off x="3840480" y="1188720"/>
            <a:ext cx="6858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 TRUST</a:t>
            </a:r>
            <a:endParaRPr lang="en-US" sz="750" dirty="0"/>
          </a:p>
        </p:txBody>
      </p:sp>
      <p:sp>
        <p:nvSpPr>
          <p:cNvPr id="20" name="Text 17"/>
          <p:cNvSpPr/>
          <p:nvPr/>
        </p:nvSpPr>
        <p:spPr>
          <a:xfrm rot="16200000">
            <a:off x="3840480" y="2468880"/>
            <a:ext cx="6858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 TRUST</a:t>
            </a:r>
            <a:endParaRPr lang="en-US" sz="750" dirty="0"/>
          </a:p>
        </p:txBody>
      </p:sp>
      <p:sp>
        <p:nvSpPr>
          <p:cNvPr id="21" name="Shape 18"/>
          <p:cNvSpPr/>
          <p:nvPr/>
        </p:nvSpPr>
        <p:spPr>
          <a:xfrm>
            <a:off x="4846320" y="1417320"/>
            <a:ext cx="164592" cy="164592"/>
          </a:xfrm>
          <a:prstGeom prst="ellipse">
            <a:avLst/>
          </a:prstGeom>
          <a:solidFill>
            <a:srgbClr val="1A7F4E"/>
          </a:solidFill>
          <a:ln w="12700">
            <a:solidFill>
              <a:srgbClr val="1A7F4E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5047488" y="1371600"/>
            <a:ext cx="1417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1A7F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Booking.com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1A7F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Safe Middleman</a:t>
            </a:r>
            <a:endParaRPr lang="en-US" sz="800" dirty="0"/>
          </a:p>
        </p:txBody>
      </p:sp>
      <p:sp>
        <p:nvSpPr>
          <p:cNvPr id="23" name="Shape 20"/>
          <p:cNvSpPr/>
          <p:nvPr/>
        </p:nvSpPr>
        <p:spPr>
          <a:xfrm>
            <a:off x="6858000" y="1691640"/>
            <a:ext cx="164592" cy="164592"/>
          </a:xfrm>
          <a:prstGeom prst="ellipse">
            <a:avLst/>
          </a:prstGeom>
          <a:solidFill>
            <a:srgbClr val="4A5568"/>
          </a:solidFill>
          <a:ln w="12700">
            <a:solidFill>
              <a:srgbClr val="4A5568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7059168" y="1645920"/>
            <a:ext cx="1417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Airbnb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Community Guarantor</a:t>
            </a:r>
            <a:endParaRPr lang="en-US" sz="800" dirty="0"/>
          </a:p>
        </p:txBody>
      </p:sp>
      <p:sp>
        <p:nvSpPr>
          <p:cNvPr id="25" name="Shape 22"/>
          <p:cNvSpPr/>
          <p:nvPr/>
        </p:nvSpPr>
        <p:spPr>
          <a:xfrm>
            <a:off x="6858000" y="2606040"/>
            <a:ext cx="164592" cy="164592"/>
          </a:xfrm>
          <a:prstGeom prst="ellipse">
            <a:avLst/>
          </a:prstGeom>
          <a:solidFill>
            <a:srgbClr val="718096"/>
          </a:solidFill>
          <a:ln w="12700">
            <a:solidFill>
              <a:srgbClr val="718096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7059168" y="2560320"/>
            <a:ext cx="1417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Trip.com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Scale Player</a:t>
            </a:r>
            <a:endParaRPr lang="en-US" sz="800" dirty="0"/>
          </a:p>
        </p:txBody>
      </p:sp>
      <p:sp>
        <p:nvSpPr>
          <p:cNvPr id="27" name="Shape 24"/>
          <p:cNvSpPr/>
          <p:nvPr/>
        </p:nvSpPr>
        <p:spPr>
          <a:xfrm>
            <a:off x="6949440" y="3108960"/>
            <a:ext cx="164592" cy="164592"/>
          </a:xfrm>
          <a:prstGeom prst="ellipse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28" name="Text 25"/>
          <p:cNvSpPr/>
          <p:nvPr/>
        </p:nvSpPr>
        <p:spPr>
          <a:xfrm>
            <a:off x="7150608" y="3063240"/>
            <a:ext cx="1417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Agoda TODAY</a:t>
            </a:r>
            <a:endParaRPr lang="en-US" sz="800" dirty="0"/>
          </a:p>
          <a:p>
            <a:pPr indent="0" marL="0">
              <a:buNone/>
            </a:pPr>
            <a:r>
              <a:rPr lang="en-US" sz="8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Exposed Merchant</a:t>
            </a:r>
            <a:endParaRPr lang="en-US" sz="800" dirty="0"/>
          </a:p>
        </p:txBody>
      </p:sp>
      <p:sp>
        <p:nvSpPr>
          <p:cNvPr id="29" name="Shape 26"/>
          <p:cNvSpPr/>
          <p:nvPr/>
        </p:nvSpPr>
        <p:spPr>
          <a:xfrm>
            <a:off x="7498080" y="1325880"/>
            <a:ext cx="164592" cy="164592"/>
          </a:xfrm>
          <a:prstGeom prst="ellipse">
            <a:avLst/>
          </a:prstGeom>
          <a:solidFill>
            <a:srgbClr val="E8630A"/>
          </a:solidFill>
          <a:ln w="12700">
            <a:solidFill>
              <a:srgbClr val="E8630A"/>
            </a:solidFill>
            <a:prstDash val="solid"/>
          </a:ln>
        </p:spPr>
      </p:sp>
      <p:sp>
        <p:nvSpPr>
          <p:cNvPr id="30" name="Text 27"/>
          <p:cNvSpPr/>
          <p:nvPr/>
        </p:nvSpPr>
        <p:spPr>
          <a:xfrm>
            <a:off x="7699248" y="1280160"/>
            <a:ext cx="1417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E863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Agoda TARGET</a:t>
            </a:r>
            <a:endParaRPr lang="en-US" sz="800" dirty="0"/>
          </a:p>
          <a:p>
            <a:pPr indent="0" marL="0">
              <a:buNone/>
            </a:pPr>
            <a:r>
              <a:rPr lang="en-US" sz="800" b="1" dirty="0">
                <a:solidFill>
                  <a:srgbClr val="E863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Reliable Power Buyer ✦</a:t>
            </a:r>
            <a:endParaRPr lang="en-US" sz="800" dirty="0"/>
          </a:p>
        </p:txBody>
      </p:sp>
      <p:sp>
        <p:nvSpPr>
          <p:cNvPr id="31" name="Shape 28"/>
          <p:cNvSpPr/>
          <p:nvPr/>
        </p:nvSpPr>
        <p:spPr>
          <a:xfrm>
            <a:off x="274320" y="3913632"/>
            <a:ext cx="8595360" cy="100584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2" name="Text 29"/>
          <p:cNvSpPr/>
          <p:nvPr/>
        </p:nvSpPr>
        <p:spPr>
          <a:xfrm>
            <a:off x="457200" y="3959352"/>
            <a:ext cx="8229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6AD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Strategic Recommendation: </a:t>
            </a:r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Agoda should pursue Trust as Moat — keep the merchant model for pricing power, but invest in trust infrastructure (contextual review routing, phantom inventory fixes, real-time CS). This is the only position defensible long-term that is consistent with Agoda's existing infrastructure and distinct from Booking.com's agency model.</a:t>
            </a:r>
            <a:endParaRPr lang="en-US" sz="10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 INTERVENTION — Contextual Review Routing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274320" y="804672"/>
            <a:ext cx="4069080" cy="1554480"/>
          </a:xfrm>
          <a:prstGeom prst="rect">
            <a:avLst/>
          </a:prstGeom>
          <a:solidFill>
            <a:srgbClr val="F7F9FC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12700" dir="8100000">
              <a:srgbClr val="000000">
                <a:alpha val="7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74320" y="804672"/>
            <a:ext cx="4069080" cy="64008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11480" y="896112"/>
            <a:ext cx="3886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11480" y="1261872"/>
            <a:ext cx="384048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OTA-caused friction (booking confirmation issues, payment holds, check-in failures) bleeds into hotel scores on Agoda. Travelers cannot distinguish 'the hotel was bad' from 'Agoda's system failed me.' Hotels absorb the score penalty for Agoda's operational failures.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4434840" y="804672"/>
            <a:ext cx="4434840" cy="1554480"/>
          </a:xfrm>
          <a:prstGeom prst="rect">
            <a:avLst/>
          </a:prstGeom>
          <a:solidFill>
            <a:srgbClr val="F7F9FC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12700" dir="8100000">
              <a:srgbClr val="000000">
                <a:alpha val="7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434840" y="804672"/>
            <a:ext cx="4434840" cy="64008"/>
          </a:xfrm>
          <a:prstGeom prst="rect">
            <a:avLst/>
          </a:prstGeom>
          <a:solidFill>
            <a:srgbClr val="E8630A"/>
          </a:solidFill>
          <a:ln w="12700">
            <a:solidFill>
              <a:srgbClr val="E8630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572000" y="896112"/>
            <a:ext cx="4251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863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Proposed Solution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572000" y="1261872"/>
            <a:ext cx="42062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Before submitting a hotel rating, surface: "Was your experience affected by: ☐ Booking confirmation issue  ☐ Payment / refund problem  ☐ Check-in process (not hotel's fault)  ☐ None — this is about the hotel." Checked items route to an Agoda Service Score; the hotel's rating reflects only genuine hospitality.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274320" y="2560320"/>
            <a:ext cx="4069080" cy="1554480"/>
          </a:xfrm>
          <a:prstGeom prst="rect">
            <a:avLst/>
          </a:prstGeom>
          <a:solidFill>
            <a:srgbClr val="F7F9FC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12700" dir="8100000">
              <a:srgbClr val="000000">
                <a:alpha val="7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274320" y="2560320"/>
            <a:ext cx="4069080" cy="64008"/>
          </a:xfrm>
          <a:prstGeom prst="rect">
            <a:avLst/>
          </a:prstGeom>
          <a:solidFill>
            <a:srgbClr val="1A7F4E"/>
          </a:solidFill>
          <a:ln w="12700">
            <a:solidFill>
              <a:srgbClr val="1A7F4E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11480" y="2651760"/>
            <a:ext cx="3886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7F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Success Metric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11480" y="3017520"/>
            <a:ext cx="384048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Close the Agoda–Booking.com aggregate score gap by 0.15 points within 6 months of launch. Secondary: measure hotel re-allocation rate (At-Risk → Safe migration).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4434840" y="2560320"/>
            <a:ext cx="4434840" cy="1554480"/>
          </a:xfrm>
          <a:prstGeom prst="rect">
            <a:avLst/>
          </a:prstGeom>
          <a:solidFill>
            <a:srgbClr val="F7F9FC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12700" dir="8100000">
              <a:srgbClr val="000000">
                <a:alpha val="7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4434840" y="2560320"/>
            <a:ext cx="4434840" cy="64008"/>
          </a:xfrm>
          <a:prstGeom prst="rect">
            <a:avLst/>
          </a:prstGeom>
          <a:solidFill>
            <a:srgbClr val="4A5568"/>
          </a:solidFill>
          <a:ln w="12700">
            <a:solidFill>
              <a:srgbClr val="4A5568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572000" y="2651760"/>
            <a:ext cx="4251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Trade-off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4572000" y="3017520"/>
            <a:ext cx="42062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Agoda now owns a visible Service Score that publicly exposes its own operational failures. This requires internal political will to ship — but is the only way to structurally fix supplier trust rather than masking it.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0" y="4773168"/>
            <a:ext cx="9144000" cy="36576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65760" y="4773168"/>
            <a:ext cx="8412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Trust Deficit  ·  Agoda Review Score Analysis  ·  Satvik Mishra  ·  2026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2026-06-08T18:26:17Z</dcterms:created>
  <dcterms:modified xsi:type="dcterms:W3CDTF">2026-06-08T18:26:17Z</dcterms:modified>
</cp:coreProperties>
</file>